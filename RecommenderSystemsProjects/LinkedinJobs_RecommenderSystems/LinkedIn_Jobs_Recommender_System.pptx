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141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F"/>
                </a:solidFill>
              </a:rPr>
              <a:t>CA1 — Content-Based Filtering   |   Dublin Business School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172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Jobs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48056" y="14401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34315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Hybrid Content-Based Filtering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2960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</a:rPr>
              <a:t>Dataset: ~128,350 LinkedIn Job Postings   |   Python · Scikit-learn · TF-IDF   |   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409614" y="350802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E" dirty="0">
                <a:solidFill>
                  <a:schemeClr val="bg1"/>
                </a:solidFill>
              </a:rPr>
              <a:t>Team Member:</a:t>
            </a:r>
          </a:p>
          <a:p>
            <a:r>
              <a:rPr lang="en-IE" dirty="0">
                <a:solidFill>
                  <a:schemeClr val="bg1"/>
                </a:solidFill>
              </a:rPr>
              <a:t>Chandra </a:t>
            </a:r>
            <a:r>
              <a:rPr lang="en-IE" dirty="0" err="1">
                <a:solidFill>
                  <a:schemeClr val="bg1"/>
                </a:solidFill>
              </a:rPr>
              <a:t>Binod</a:t>
            </a:r>
            <a:r>
              <a:rPr lang="en-IE" dirty="0">
                <a:solidFill>
                  <a:schemeClr val="bg1"/>
                </a:solidFill>
              </a:rPr>
              <a:t> </a:t>
            </a:r>
            <a:r>
              <a:rPr lang="en-IE" dirty="0" err="1">
                <a:solidFill>
                  <a:schemeClr val="bg1"/>
                </a:solidFill>
              </a:rPr>
              <a:t>Chetry</a:t>
            </a:r>
            <a:r>
              <a:rPr lang="en-IE" dirty="0">
                <a:solidFill>
                  <a:schemeClr val="bg1"/>
                </a:solidFill>
              </a:rPr>
              <a:t>(20079103)</a:t>
            </a:r>
          </a:p>
          <a:p>
            <a:r>
              <a:rPr lang="en-IE" dirty="0">
                <a:solidFill>
                  <a:schemeClr val="bg1"/>
                </a:solidFill>
              </a:rPr>
              <a:t>Bhargava </a:t>
            </a:r>
            <a:r>
              <a:rPr lang="en-IE" dirty="0" err="1">
                <a:solidFill>
                  <a:schemeClr val="bg1"/>
                </a:solidFill>
              </a:rPr>
              <a:t>Koya</a:t>
            </a:r>
            <a:r>
              <a:rPr lang="en-IE" dirty="0">
                <a:solidFill>
                  <a:schemeClr val="bg1"/>
                </a:solidFill>
              </a:rPr>
              <a:t>(20075511)</a:t>
            </a:r>
          </a:p>
          <a:p>
            <a:r>
              <a:rPr lang="en-IE" dirty="0">
                <a:solidFill>
                  <a:schemeClr val="bg1"/>
                </a:solidFill>
              </a:rPr>
              <a:t>Tawanda Banda(20079638</a:t>
            </a:r>
            <a:r>
              <a:rPr lang="en-IE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IE" dirty="0" smtClean="0">
                <a:solidFill>
                  <a:schemeClr val="bg1"/>
                </a:solidFill>
              </a:rPr>
              <a:t>Surya </a:t>
            </a:r>
            <a:r>
              <a:rPr lang="en-IE" dirty="0" err="1" smtClean="0">
                <a:solidFill>
                  <a:schemeClr val="bg1"/>
                </a:solidFill>
              </a:rPr>
              <a:t>Dharmaprakash</a:t>
            </a:r>
            <a:r>
              <a:rPr lang="en-IE" dirty="0" smtClean="0">
                <a:solidFill>
                  <a:schemeClr val="bg1"/>
                </a:solidFill>
              </a:rPr>
              <a:t> (20076570)</a:t>
            </a:r>
            <a:endParaRPr lang="en-I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Intelligent Job Matching?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397764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are overwhelmed by volume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hosts millions of postings — manual search is inefficient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misses contextual matches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personalisation for salary, location, or experience level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69080" cy="3977640"/>
          </a:xfrm>
          <a:prstGeom prst="rect">
            <a:avLst/>
          </a:prstGeom>
          <a:solidFill>
            <a:srgbClr val="18205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96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842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using TF-IDF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scoring: text + experience + location + salary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weights for personalised results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128,350 real LinkedIn postings as corpus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LinkedIn Jobs Recommender System  |  CA1  |  Dublin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LinkedIn Job Postings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8872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</a:rPr>
              <a:t>128,350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</a:rPr>
              <a:t>Job Postings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1920240" cy="118872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822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</a:rPr>
              <a:t>31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1920240" cy="118872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822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</a:rPr>
              <a:t>50,000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</a:rPr>
              <a:t>Sample Used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777240"/>
            <a:ext cx="1920240" cy="118872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822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</a:rPr>
              <a:t>15,000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</a:rPr>
              <a:t>TF-IDF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Features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68880"/>
          <a:ext cx="475488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title + 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TF-IDF text content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formatted_experience_level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Ordinal similarity signal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location (state)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Geographic match signal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normalized_salary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Salary proximity signal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Missing Value Highlights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0" y="2487168"/>
            <a:ext cx="731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24871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93F"/>
                </a:solidFill>
              </a:rPr>
              <a:t>salary: ~40% missing → </a:t>
            </a:r>
            <a:r>
              <a:rPr lang="en-US" sz="1050" dirty="0" smtClean="0">
                <a:solidFill>
                  <a:srgbClr val="12193F"/>
                </a:solidFill>
              </a:rPr>
              <a:t>filled with median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0" y="3017520"/>
            <a:ext cx="731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3560" y="30175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93F"/>
                </a:solidFill>
              </a:rPr>
              <a:t>skills_desc: </a:t>
            </a:r>
            <a:r>
              <a:rPr lang="en-US" sz="1050" dirty="0" smtClean="0">
                <a:solidFill>
                  <a:srgbClr val="12193F"/>
                </a:solidFill>
              </a:rPr>
              <a:t>~ excluded because 98.1% was missing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0" y="3547872"/>
            <a:ext cx="731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23560" y="3547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93F"/>
                </a:solidFill>
              </a:rPr>
              <a:t>experience: ~20% missing → median imputed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0" y="4078224"/>
            <a:ext cx="731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23560" y="40782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93F"/>
                </a:solidFill>
              </a:rPr>
              <a:t>location: ~5% missing → state = '' (neutral)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Dataset: LinkedIn Job Postings (Kaggle)  |  Arimboux, 2023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— End to 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Load &amp; Sample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50K rows from postings.csv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155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64208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EDA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Distributions, missing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90088" y="2468880"/>
            <a:ext cx="155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75304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45536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45536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Clean text, extract state, ordinal encode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2468880"/>
            <a:ext cx="155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56632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26864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TF-IDF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26864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15K tokens, bigrams, log-norm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52744" y="2468880"/>
            <a:ext cx="155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08192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Hybrid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08192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60% text + 15% exp + 15% loc + 10% salary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34072" y="2468880"/>
            <a:ext cx="15544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960120"/>
            <a:ext cx="1325880" cy="347472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9288" y="1051560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89520" y="1664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</a:rPr>
              <a:t>Demo &amp; Eval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2212848"/>
            <a:ext cx="13258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8"/>
                </a:solidFill>
              </a:rPr>
              <a:t>Top-N retrieval, weight sensitivity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LinkedIn Jobs Recommender System  |  CA1  |  Dublin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TF-IDF(t, d) = TF(t,d) × log [ N / (1 + DF(t)) ]   with sublinear TF normalisation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Parameters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65960"/>
          <a:ext cx="5029200" cy="2484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max_features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Balance coverage vs. memory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ngram_range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(1, 2)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Captures 'machine learning' as unit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min_df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Remove extremely rare terms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max_df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Remove near-universal stopwords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sublinear_tf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Log-scale prevents high-freq dominance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Text Content Weighting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235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93F"/>
                </a:solidFill>
              </a:rPr>
              <a:t>Title (×3)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2350008"/>
            <a:ext cx="22631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8140" y="2350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93F"/>
                </a:solidFill>
              </a:rPr>
              <a:t>75%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93F"/>
                </a:solidFill>
              </a:rPr>
              <a:t>Description (×1)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23560" y="3127248"/>
            <a:ext cx="754380" cy="320040"/>
          </a:xfrm>
          <a:prstGeom prst="rect">
            <a:avLst/>
          </a:prstGeom>
          <a:solidFill>
            <a:srgbClr val="8B9BBF"/>
          </a:solidFill>
          <a:ln w="12700">
            <a:solidFill>
              <a:srgbClr val="8B9B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9380" y="3127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193F"/>
                </a:solidFill>
              </a:rPr>
              <a:t>25%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2356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BBF"/>
                </a:solidFill>
              </a:rPr>
              <a:t>Title repeated 3× to increase signal weight relative to longer job descriptions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Ramos et al. (2003). Using TF-IDF to Determine Word Relevance in Document Queries. ICML.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solidFill>
            <a:srgbClr val="12193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hybrid_score = 0.60 × text_sim  +  0.15 × experience_sim  +  0.15 × location_sim  +  0.10 × salary_sim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503920" cy="685800"/>
          </a:xfrm>
          <a:prstGeom prst="rect">
            <a:avLst/>
          </a:prstGeom>
          <a:solidFill>
            <a:srgbClr val="182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685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 Similarity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similarity of TF-IDF vectors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8503920" cy="685800"/>
          </a:xfrm>
          <a:prstGeom prst="rect">
            <a:avLst/>
          </a:prstGeom>
          <a:solidFill>
            <a:srgbClr val="1820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59152"/>
            <a:ext cx="6858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591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Experience Similarity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24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|exp_query − exp_candidate|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8503920" cy="685800"/>
          </a:xfrm>
          <a:prstGeom prst="rect">
            <a:avLst/>
          </a:prstGeom>
          <a:solidFill>
            <a:srgbClr val="18205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63824"/>
            <a:ext cx="6858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638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09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Location Similarity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529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if same state, 0.0 otherwise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68496"/>
            <a:ext cx="8503920" cy="685800"/>
          </a:xfrm>
          <a:prstGeom prst="rect">
            <a:avLst/>
          </a:prstGeom>
          <a:solidFill>
            <a:srgbClr val="182050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68496"/>
            <a:ext cx="68580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684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014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Salary Similarity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334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|salary_query − salary_candidate|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Burke, R. (2002). Hybrid Recommender Systems: Survey and Experiments. User Modeling and User-Adapted Interaction.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Query Results &amp; Weight Sensitivity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95528"/>
            <a:ext cx="2286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95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PROFILE QUERY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Skills: Python · ML · TensorFlow · SQL   |   Level: Mid-Senior   |   Location: CA   |   Salary: $120K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208483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Job Title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Senior Data Scientist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Google LLC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Sunnyvale,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0.8921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Machine Learning Engineer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Meta Platforms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Menlo Park,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0.8743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Scientist – NLP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Salesforce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San Francisco,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0.8601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Applied ML Research Scientist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Apple Inc.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Cupertino,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Senior ML Platform Engineer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Uber Technologies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San Francisco, CA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0.8487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703320"/>
            <a:ext cx="2286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32004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 SENSITIVITY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4005072"/>
            <a:ext cx="1920240" cy="868680"/>
          </a:xfrm>
          <a:prstGeom prst="rect">
            <a:avLst/>
          </a:prstGeom>
          <a:solidFill>
            <a:srgbClr val="E8EE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93F"/>
                </a:solidFill>
              </a:rPr>
              <a:t>Text Only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</a:rPr>
              <a:t>Top score: 0.8210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F"/>
                </a:solidFill>
              </a:rPr>
              <a:t>Generic results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68880" y="4005072"/>
            <a:ext cx="1920240" cy="86868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Default Hybrid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6888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842"/>
                </a:solidFill>
              </a:rPr>
              <a:t>Top score: 0.8921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468880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F8"/>
                </a:solidFill>
              </a:rPr>
              <a:t>Balanced — best results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17720" y="4005072"/>
            <a:ext cx="1920240" cy="868680"/>
          </a:xfrm>
          <a:prstGeom prst="rect">
            <a:avLst/>
          </a:prstGeom>
          <a:solidFill>
            <a:srgbClr val="E8EE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93F"/>
                </a:solidFill>
              </a:rPr>
              <a:t>Location Heavy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</a:rPr>
              <a:t>Top score: 0.8540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17720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F"/>
                </a:solidFill>
              </a:rPr>
              <a:t>State match prioritised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766560" y="4005072"/>
            <a:ext cx="1920240" cy="868680"/>
          </a:xfrm>
          <a:prstGeom prst="rect">
            <a:avLst/>
          </a:prstGeom>
          <a:solidFill>
            <a:srgbClr val="E8EE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93F"/>
                </a:solidFill>
              </a:rPr>
              <a:t>Salary Heavy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6656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</a:rPr>
              <a:t>Top score: 0.8320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66560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F"/>
                </a:solidFill>
              </a:rPr>
              <a:t>Compensation prioritised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LinkedIn Jobs Recommender System  |  CA1  |  Dublin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F8"/>
                </a:solidFill>
              </a:rPr>
              <a:t>Without ground-truth user interactions, we employ proxy evaluation metrics: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713232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Intra-list Diversity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</a:rPr>
              <a:t>Heatmap shows ~0.65 avg cosine between different job categories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8503920" cy="713232"/>
          </a:xfrm>
          <a:prstGeom prst="rect">
            <a:avLst/>
          </a:prstGeom>
          <a:solidFill>
            <a:srgbClr val="18205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21408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Weight Sensitivity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</a:rPr>
              <a:t>Hybrid vs text-only: top-5 overlap drops to 2/5 — structured features shift rankings meaningfully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8503920" cy="713232"/>
          </a:xfrm>
          <a:prstGeom prst="rect">
            <a:avLst/>
          </a:prstGeom>
          <a:solidFill>
            <a:srgbClr val="18205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62656"/>
            <a:ext cx="73152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</a:rPr>
              <a:t>50K postings across 200+ job categories; model generalises beyond single-domain queries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" y="3767328"/>
            <a:ext cx="8503920" cy="713232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03904"/>
            <a:ext cx="731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Profile Matching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151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</a:rPr>
              <a:t>Profile queries return domain-relevant titles with location/salary alignment in top-3 positions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BBF"/>
                </a:solidFill>
              </a:rPr>
              <a:t>Note: Formal offline metrics (Precision@K, NDCG) require labelled interaction logs not available in this dataset.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Shani &amp; Gunawardana (2011). Evaluating Recommendation Systems. Springer.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Cold-Start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93F"/>
                </a:solidFill>
              </a:rPr>
              <a:t>New users with no profile and new jobs with no description receive low-quality recommendations. The system cannot infer preferences without input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627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No Collaborative Filtering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01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93F"/>
                </a:solidFill>
              </a:rPr>
              <a:t>User-item interaction signals (clicks, applies, views) are ignored. Similar users' preferences cannot inform recommendations.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048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32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Static Vocabulary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93F"/>
                </a:solidFill>
              </a:rPr>
              <a:t>TF-IDF vocabulary is fixed at training time. Emerging skills (e.g. 'LLM fine-tuning') are unseen until a full re-fit.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09544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95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Binary Location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11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93F"/>
                </a:solidFill>
              </a:rPr>
              <a:t>State-level binary matching is coarse. 'CA' matches San Diego and San Francisco equally; commute distance is not considered.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14216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142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041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193F"/>
                </a:solidFill>
              </a:rPr>
              <a:t>Cosine similarity over 50K × 15K matrix is O(n·d). Real-time recommendation over millions of postings would require ANN indexing (e.g. FAISS).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LinkedIn Jobs Recommender System  |  CA1  |  Dublin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97680" cy="1097280"/>
          </a:xfrm>
          <a:prstGeom prst="rect">
            <a:avLst/>
          </a:prstGeom>
          <a:solidFill>
            <a:srgbClr val="18205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Algorithmic Bias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TF-IDF learns from historical postings which may encode occupational gender or racial biases. A 'nurse' query may systematically surface lower-salary roles.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297680" cy="1097280"/>
          </a:xfrm>
          <a:prstGeom prst="rect">
            <a:avLst/>
          </a:prstGeom>
          <a:solidFill>
            <a:srgbClr val="182050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73152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762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Bubble / Exposure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5054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Content-based systems reinforce existing preferences. Job seekers are not exposed to roles they haven't considered, limiting career mobility.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4297680" cy="1097280"/>
          </a:xfrm>
          <a:prstGeom prst="rect">
            <a:avLst/>
          </a:prstGeom>
          <a:solidFill>
            <a:srgbClr val="18205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383280"/>
            <a:ext cx="73152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4564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Salary Transparency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7856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~40% of postings lack salary data. Median imputation may disadvantage users seeking above-median roles. Salary equity implications exist.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1097280"/>
          </a:xfrm>
          <a:prstGeom prst="rect">
            <a:avLst/>
          </a:prstGeom>
          <a:solidFill>
            <a:srgbClr val="18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82296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Privacy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2252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User profiles (skills, salary, location) are sensitive personal data. Any deployment must comply with GDPR and ensure no profiling for non-recommendation purposes.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4114800" cy="1097280"/>
          </a:xfrm>
          <a:prstGeom prst="rect">
            <a:avLst/>
          </a:prstGeom>
          <a:solidFill>
            <a:srgbClr val="182050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10312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176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Transparency &amp; Explainability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50545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Users deserve to understand why a job was recommended. Black-box scores erode trust; weight visualisation and explanations should be surfaced.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Mehrabi et al. (2021). A Survey on Bias and Fairness in Machine Learning. ACM Computing Surveys.  |  GDPR Art.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95528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88696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Collaborative Filtering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225296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Incorporate user-item interaction logs (clicks, applications) via matrix factorisation or neural CF to complement content signals.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85416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85416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8541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2276856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BERT-Based Text Encoding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2615184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Replace TF-IDF with a pre-trained sentence transformer (e.g. all-MiniLM-L6-v2) to capture semantic meaning beyond keyword overlap.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75304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75304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75304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" y="3666744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Real-Time Re-indexing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4005072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Deploy an ANN index (FAISS / ScaNN) to support sub-second retrieval over millions of live postings without full cosine scans.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795528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795528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79552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30952" y="88696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Bias Auditing &amp; Fairness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0952" y="1225296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Measure demographic parity of recommendations across gender/ethnicity proxies and apply re-ranking to ensure equitable exposure.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85416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85416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8541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0952" y="2276856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Explainable Recommendations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2615184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Surface per-signal score breakdowns to users: 'Matched because: title (0.72), location (1.0), salary (0.85)' to build trust.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251960" cy="1234440"/>
          </a:xfrm>
          <a:prstGeom prst="rect">
            <a:avLst/>
          </a:prstGeom>
          <a:solidFill>
            <a:srgbClr val="EAEF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575304"/>
            <a:ext cx="502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75304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842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30952" y="3666744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User Feedback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0952" y="4005072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193F"/>
                </a:solidFill>
              </a:rPr>
              <a:t>Integrate thumbs up/down signals and A/B test weight configurations to continuously improve personalisation over time.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93F"/>
          </a:solidFill>
          <a:ln w="12700">
            <a:solidFill>
              <a:srgbClr val="1219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F"/>
                </a:solidFill>
              </a:rPr>
              <a:t>LinkedIn Jobs Recommender System  |  CA1  |  Dublin Business School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1202</Words>
  <Application>Microsoft Office PowerPoint</Application>
  <PresentationFormat>On-screen Show (16:9)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Jobs Recommender System</dc:title>
  <dc:subject>PptxGenJS Presentation</dc:subject>
  <dc:creator>PptxGenJS</dc:creator>
  <cp:lastModifiedBy>Tawanda Banda</cp:lastModifiedBy>
  <cp:revision>10</cp:revision>
  <dcterms:created xsi:type="dcterms:W3CDTF">2026-04-15T11:32:20Z</dcterms:created>
  <dcterms:modified xsi:type="dcterms:W3CDTF">2026-04-15T18:06:35Z</dcterms:modified>
</cp:coreProperties>
</file>