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8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80355-39A8-470C-9B9F-6E23143C1D61}" v="1" dt="2025-12-15T12:07:18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av koya" userId="0c2cfccce0ea40ac" providerId="LiveId" clId="{3196D12E-8507-4EDC-B98E-A317E2857F73}"/>
    <pc:docChg chg="undo custSel modSld">
      <pc:chgData name="bhargav koya" userId="0c2cfccce0ea40ac" providerId="LiveId" clId="{3196D12E-8507-4EDC-B98E-A317E2857F73}" dt="2025-12-16T16:45:48.017" v="27" actId="1036"/>
      <pc:docMkLst>
        <pc:docMk/>
      </pc:docMkLst>
      <pc:sldChg chg="modSp mod">
        <pc:chgData name="bhargav koya" userId="0c2cfccce0ea40ac" providerId="LiveId" clId="{3196D12E-8507-4EDC-B98E-A317E2857F73}" dt="2025-12-15T12:08:51.366" v="24" actId="20577"/>
        <pc:sldMkLst>
          <pc:docMk/>
          <pc:sldMk cId="0" sldId="256"/>
        </pc:sldMkLst>
        <pc:spChg chg="mod">
          <ac:chgData name="bhargav koya" userId="0c2cfccce0ea40ac" providerId="LiveId" clId="{3196D12E-8507-4EDC-B98E-A317E2857F73}" dt="2025-12-15T12:08:51.366" v="24" actId="20577"/>
          <ac:spMkLst>
            <pc:docMk/>
            <pc:sldMk cId="0" sldId="256"/>
            <ac:spMk id="7" creationId="{14DADF6D-FAAD-257D-2FC1-BF1C46EFF779}"/>
          </ac:spMkLst>
        </pc:spChg>
      </pc:sldChg>
      <pc:sldChg chg="modSp mod">
        <pc:chgData name="bhargav koya" userId="0c2cfccce0ea40ac" providerId="LiveId" clId="{3196D12E-8507-4EDC-B98E-A317E2857F73}" dt="2025-12-16T16:45:48.017" v="27" actId="1036"/>
        <pc:sldMkLst>
          <pc:docMk/>
          <pc:sldMk cId="0" sldId="262"/>
        </pc:sldMkLst>
        <pc:spChg chg="mod">
          <ac:chgData name="bhargav koya" userId="0c2cfccce0ea40ac" providerId="LiveId" clId="{3196D12E-8507-4EDC-B98E-A317E2857F73}" dt="2025-12-16T16:45:48.017" v="27" actId="10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bhargav koya" userId="0c2cfccce0ea40ac" providerId="LiveId" clId="{3196D12E-8507-4EDC-B98E-A317E2857F73}" dt="2025-12-16T16:44:18.787" v="26" actId="15"/>
          <ac:spMkLst>
            <pc:docMk/>
            <pc:sldMk cId="0" sldId="262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39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5707-6A05-BBEB-1319-5D08B05A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D7765-0B50-3C60-7FB7-555A0CCE7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F3872-9E24-B61D-E0F8-C35051E53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AAB44-55F2-D052-F012-9B0F10FA9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74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5633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Risk &amp; Profitability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84363" y="2680335"/>
            <a:ext cx="59751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Graph-Enhanced Machine Learning for Banking Networks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69393" y="3228975"/>
            <a:ext cx="400521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Neo4j Graph Database &amp; Advanced Analytics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65456" y="3773805"/>
            <a:ext cx="381296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 Graph AI (B9AI101) • MSc Artificial Intelligence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ADF6D-FAAD-257D-2FC1-BF1C46EFF779}"/>
              </a:ext>
            </a:extLst>
          </p:cNvPr>
          <p:cNvSpPr txBox="1"/>
          <p:nvPr/>
        </p:nvSpPr>
        <p:spPr>
          <a:xfrm>
            <a:off x="2370406" y="4139811"/>
            <a:ext cx="4572000" cy="92333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Bhargava Koya (20075511)</a:t>
            </a:r>
          </a:p>
          <a:p>
            <a:r>
              <a:rPr lang="en-IN" dirty="0"/>
              <a:t>Chandra </a:t>
            </a:r>
            <a:r>
              <a:rPr lang="en-IN"/>
              <a:t>Binod Chetry (</a:t>
            </a:r>
            <a:r>
              <a:rPr lang="en-IN" dirty="0"/>
              <a:t>20079103)</a:t>
            </a:r>
          </a:p>
          <a:p>
            <a:r>
              <a:rPr lang="en-IN" dirty="0"/>
              <a:t>Banda T (20079638)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Scope: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 customers, 65,010 transactions over 91 days (Jul–Oct 2021), ~$794 million total volume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Neo4j graph database with GDS algorithms, Python ML pipeline for fraud detection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Identified 5+ distinct customer communities using Louvain algorithm with modularity optimization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Graph-enhanced model achieved measurable lift over baseline with superior precision, recall, and ROC-AUC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 customers segmented into 4 actionable risk/profitability quadrants with specific remediation strategies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Dual mandate to detect fraud while maintaining profitable customer relationships. Traditional transaction-only systems miss network-based indicators.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882140"/>
            <a:ext cx="76200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Laundering Networks: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Circular fund flows (A→B→C→A) with similar amounts indicating layering activity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Hub-and-Spoke Fraud: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Central accounts with abnormally high out-degree facilitating coordinated rings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Smurfing &amp; Distribution: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Splitting transactions across multiple accounts to avoid detection thresholds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and segment high-risk/high-profit customers for targeted enhanced due diligence without disrupting revenue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825471"/>
            <a:ext cx="7924800" cy="13958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1104" y="2224196"/>
            <a:ext cx="7924800" cy="13958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1104" y="3620085"/>
            <a:ext cx="7924800" cy="13958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104" y="30714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79704" y="105407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79704" y="137411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unique customer records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9704" y="1587471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 customerID, name, email, phone, address, account number, sort code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79704" y="1790114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 100% complete, no missing values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79704" y="2452796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Records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9704" y="2772836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65,010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edges capturing fund flows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9704" y="2986196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Period: Jul 3 – Oct 1, 2021 (91 days, Q3 focus)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79704" y="3188842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~130 transactions per customer (~1.4/day)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79704" y="3848685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Volumes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79704" y="4168726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$12,220 | </a:t>
            </a: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$555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9704" y="4382085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Right-skewed: max $99,997, std dev $24,435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79704" y="4584728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volume: ~$794 million USD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2784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80574"/>
            <a:ext cx="7924800" cy="10758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08822"/>
            <a:ext cx="7924800" cy="12784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Data Model (Neo4j)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 Customer (500 nodes)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1691641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Properties: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customerID, name, email, account number, sort code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1894284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Properties: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num_sent_transactions, total_sent_amount, avg_sent_amount, num_received_transactions, total_received_amount, profitability_score (0–100)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909174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Relationship: SENT (65,010 edges)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122533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(Customer)-[:SENT {amount, transactionID, dateTime}]-&gt;(Customer)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325178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amount (USD), transactionID (unique), dateTime (timestamp), currency ("USD")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838200" y="4137422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Algorithm-Generated Features: 14+ attributes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200" y="4350783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Centrality: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out_degree, in_degree, pagerank_score, betweenness_score, reciprocal_connections, circular_flow_flag (Boolean)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838200" y="475607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&amp; Community: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FastRP 64-dim embedding (norm/mean/std), community_id (Louvain algorithm output)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Algorithms Applied (GDS)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Modularity optimization identifies 5+ distinct customer communities with high internal transaction flow; reveals natural groupings and potential fraud rings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 (Damping=0.85):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Identifies network hubs receiving many/large transactions; high PageRank = central to fraud network or legitimate broker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 Centrality: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shortest-path brokerage; reveals intermediary accounts connecting otherwise disconnected customer groups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FastRP Embeddings (64-dim):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random projection captures neighborhood similarity; enables similarity-based fraud detection and clustering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70045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50132"/>
            <a:ext cx="7924800" cy="150852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420499"/>
            <a:ext cx="7924800" cy="71008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Model: Graph-Enhanced vs. Baseline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Graph-Enhanced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866900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(14 total):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069546"/>
            <a:ext cx="7467600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Graph Features: out_degree, in_degree, pagerank_score, betweenness_score, reciprocal_connections, circular_flow_flag, embedding_norm, embedding_mean, embedding_std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2529601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Transaction Features: num_sent, total_sent, avg_sent, num_received, total_received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17873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3567352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(5 only):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838200" y="3769995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Transaction Volume: num_sent_transactions, total_sent_amount, avg_sent_amount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8200" y="4038123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Incoming: num_received_transactions, total_received_amount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62000" y="4601455"/>
            <a:ext cx="76200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Logistic Regression (C=1.0, max_iter=1000), 80/20 train/test split (stratified), StandardScaler normalization, random_seed=42 for reproducibility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Predictive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65163" y="1073836"/>
            <a:ext cx="7620000" cy="338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Out-Degree (Graph):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of distinct recipients; high out-degree = potential money mule or hub account distributing funds to many parties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PageRank (Graph):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 centrality measure; identifies hubs receiving many/large transactions; proxy for network influence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Total Sent Amount (Transaction):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Cumulative transaction volume; high amounts = elevated transaction risk exposure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Embedding Norm (Graph):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L2 norm of 64-dim FastRP vector; captures neighborhood structural similarity; proxy for network pattern matching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Betweenness Centrality (Graph):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Shortest-path broker measure; connects otherwise disconnected clusters; intermediate positions facilitate money flow coordination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4562955"/>
            <a:ext cx="79248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of top 5 features are graph-derived; demonstrates network topology predicts fraud better than transaction volume alone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7710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96928"/>
            <a:ext cx="7924800" cy="7710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96578"/>
            <a:ext cx="7924800" cy="7710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43829"/>
            <a:ext cx="7924800" cy="7710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Risk-Profitability Matrix: 4 Segments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92480" y="1432559"/>
            <a:ext cx="771022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 / High Profit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2480" y="1645923"/>
            <a:ext cx="771022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high-value customers; preferential rates, dedicated relationship managers, VIP benefits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92480" y="2279810"/>
            <a:ext cx="771022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/ High Profit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2480" y="2493169"/>
            <a:ext cx="771022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hubs requiring monitoring; enhanced due diligence, transaction limits, risk-based pricing, quarterly reviews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92480" y="3279460"/>
            <a:ext cx="771022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/ Low Profit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480" y="3492819"/>
            <a:ext cx="771022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money mules or layering accounts; account restrictions, closure recommendations, SAR filing if confirmed fraud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92480" y="4126706"/>
            <a:ext cx="771022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 / Low Profit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2480" y="4340065"/>
            <a:ext cx="7710221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or low-activity retail customers; targeted upsell campaigns, product bundling, relationship development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72563-2C72-68C1-C67D-97B81DB1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33BB09E-B88E-79F6-15F1-3E14AAB72451}"/>
              </a:ext>
            </a:extLst>
          </p:cNvPr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27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B727AF4D-13BA-BEDF-8813-74DA29F9E8BF}"/>
              </a:ext>
            </a:extLst>
          </p:cNvPr>
          <p:cNvSpPr/>
          <p:nvPr/>
        </p:nvSpPr>
        <p:spPr>
          <a:xfrm>
            <a:off x="865163" y="1073836"/>
            <a:ext cx="7620000" cy="131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Cypher Code walkthrough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Python ML Code walkthrough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Results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086247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1260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28176"/>
            <a:ext cx="7924800" cy="11260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06665"/>
            <a:ext cx="7924800" cy="11260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Recommendations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1402082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(Week 1):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1615441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Investigate top 30 flagged customers from risk assessment (export: top_risky_customers_for_review.csv)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62000" y="1818084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transaction limits ($50K–$100K) for High Risk / High Profit segment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62000" y="2020728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Suspicious Activity Reports (SARs) for circular flow pattern detections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62000" y="2680576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(Month 1-3):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2893935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graph-enhanced model into production (Neo4j + Python API)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62000" y="3096578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 risk scores into CRM for customer-facing teams and relationship managers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62000" y="3299222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fraud analysts on graph-based fraud patterns and interpretation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62000" y="3959065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(Q1-Q4):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4172429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scoring for high-value transactions (&gt;$50K) with sub-second latency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62000" y="4375072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 graph with external data: sanctions lists, PEP databases, device fingerprinting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762000" y="4577716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 temporal GNN models to detect fraud evolution and emerging patterns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871" y="4259582"/>
            <a:ext cx="7924800" cy="9234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173482"/>
            <a:ext cx="76200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Graph-Enhanced Model Superiority: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Outperforms transaction-only baseline across precision, recall, F1-score, and ROC-AUC with measurable lift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Network Topology Predicts Fraud: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Out-degree, PageRank, and betweenness centrality rank in top 5 features; proves network position beyond transaction volume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Actionable Segmentation: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4-segment matrix (Low Risk/High Profit, High Risk/High Profit, High Risk/Low Profit, Low Risk/Low Profit) provides specific remediation strategies for 500 customers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Operational Deployment Ready: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Exportable customer lists (CSV), visualizations (PNG), and modular Python code enable immediate handoff to fraud team and CRM integration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8271" y="4411982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8271" y="4625341"/>
            <a:ext cx="76200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Graph Neural Networks (dynamic risk evolution), real-time transaction scoring, multi-modal features (text + graph), federated learning across banks, SHAP-based explainability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1270</Words>
  <Application>Microsoft Office PowerPoint</Application>
  <PresentationFormat>On-screen Show (16:9)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bhargav koya</cp:lastModifiedBy>
  <cp:revision>11</cp:revision>
  <dcterms:created xsi:type="dcterms:W3CDTF">2025-12-14T21:25:32Z</dcterms:created>
  <dcterms:modified xsi:type="dcterms:W3CDTF">2025-12-16T16:45:58Z</dcterms:modified>
</cp:coreProperties>
</file>